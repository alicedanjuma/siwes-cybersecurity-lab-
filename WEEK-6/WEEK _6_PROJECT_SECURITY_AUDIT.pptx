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4" r:id="rId4"/>
    <p:sldId id="269" r:id="rId5"/>
    <p:sldId id="270" r:id="rId6"/>
    <p:sldId id="268" r:id="rId7"/>
  </p:sldIdLst>
  <p:sldSz cx="18288000" cy="10287000"/>
  <p:notesSz cx="6858000" cy="9144000"/>
  <p:embeddedFontLst>
    <p:embeddedFont>
      <p:font typeface="Poppins Bold" panose="020B0604020202020204" charset="0"/>
      <p:regular r:id="rId9"/>
    </p:embeddedFont>
    <p:embeddedFont>
      <p:font typeface="Holiday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Zuume Rough Bold" panose="020B0604020202020204" charset="0"/>
      <p:regular r:id="rId15"/>
    </p:embeddedFont>
    <p:embeddedFont>
      <p:font typeface="Poppins Semi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02FF1-AC92-4244-8592-34D4C9288D1E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B8A9F-9550-48D3-BBCD-D0CCCCD15D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4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AB8A9F-9550-48D3-BBCD-D0CCCCD15D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946">
                <a:alpha val="100000"/>
              </a:srgbClr>
            </a:gs>
            <a:gs pos="100000">
              <a:srgbClr val="22053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97246" y="4164604"/>
            <a:ext cx="14417609" cy="273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548"/>
              </a:lnSpc>
              <a:spcBef>
                <a:spcPct val="0"/>
              </a:spcBef>
            </a:pPr>
            <a:r>
              <a:rPr lang="en-US" sz="26010" b="1" spc="-260" dirty="0" smtClean="0">
                <a:solidFill>
                  <a:srgbClr val="4B55DC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EAZY’S GAMES</a:t>
            </a:r>
            <a:endParaRPr lang="en-US" sz="26010" b="1" u="none" strike="noStrike" spc="-260" dirty="0">
              <a:solidFill>
                <a:srgbClr val="4B55DC"/>
              </a:solidFill>
              <a:latin typeface="Zuume Rough Bold"/>
              <a:ea typeface="Zuume Rough Bold"/>
              <a:cs typeface="Zuume Rough Bold"/>
              <a:sym typeface="Zuume Rough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310257" y="-2959218"/>
            <a:ext cx="6044198" cy="6578718"/>
          </a:xfrm>
          <a:custGeom>
            <a:avLst/>
            <a:gdLst/>
            <a:ahLst/>
            <a:cxnLst/>
            <a:rect l="l" t="t" r="r" b="b"/>
            <a:pathLst>
              <a:path w="6044198" h="6578718">
                <a:moveTo>
                  <a:pt x="0" y="0"/>
                </a:moveTo>
                <a:lnTo>
                  <a:pt x="6044198" y="0"/>
                </a:lnTo>
                <a:lnTo>
                  <a:pt x="6044198" y="6578718"/>
                </a:lnTo>
                <a:lnTo>
                  <a:pt x="0" y="657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6414856" y="3110966"/>
            <a:ext cx="341403" cy="512105"/>
            <a:chOff x="0" y="0"/>
            <a:chExt cx="4064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649870" y="3110966"/>
            <a:ext cx="341403" cy="512105"/>
            <a:chOff x="0" y="0"/>
            <a:chExt cx="4064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884386" y="3110966"/>
            <a:ext cx="341403" cy="512105"/>
            <a:chOff x="0" y="0"/>
            <a:chExt cx="40640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6971" y="6844176"/>
            <a:ext cx="341403" cy="512105"/>
            <a:chOff x="0" y="0"/>
            <a:chExt cx="40640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1985" y="6844176"/>
            <a:ext cx="341403" cy="512105"/>
            <a:chOff x="0" y="0"/>
            <a:chExt cx="406400" cy="60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86502" y="6844176"/>
            <a:ext cx="341403" cy="512105"/>
            <a:chOff x="0" y="0"/>
            <a:chExt cx="406400" cy="6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3396704">
            <a:off x="12456525" y="7655241"/>
            <a:ext cx="6044198" cy="6578718"/>
          </a:xfrm>
          <a:custGeom>
            <a:avLst/>
            <a:gdLst/>
            <a:ahLst/>
            <a:cxnLst/>
            <a:rect l="l" t="t" r="r" b="b"/>
            <a:pathLst>
              <a:path w="6044198" h="6578718">
                <a:moveTo>
                  <a:pt x="0" y="0"/>
                </a:moveTo>
                <a:lnTo>
                  <a:pt x="6044198" y="0"/>
                </a:lnTo>
                <a:lnTo>
                  <a:pt x="6044198" y="6578718"/>
                </a:lnTo>
                <a:lnTo>
                  <a:pt x="0" y="657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036146" y="2917787"/>
            <a:ext cx="7107854" cy="626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89"/>
              </a:lnSpc>
            </a:pPr>
            <a:r>
              <a:rPr lang="en-US" sz="2994" b="1" spc="1107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SECURITY AUDIT ON: </a:t>
            </a:r>
            <a:endParaRPr lang="en-US" sz="2994" b="1" spc="1107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582145" y="5893381"/>
            <a:ext cx="6594958" cy="17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85"/>
              </a:lnSpc>
            </a:pPr>
            <a:r>
              <a:rPr lang="en-US" sz="12910" spc="-129">
                <a:solidFill>
                  <a:srgbClr val="4B55DC"/>
                </a:solidFill>
                <a:latin typeface="Holiday"/>
                <a:ea typeface="Holiday"/>
                <a:cs typeface="Holiday"/>
                <a:sym typeface="Holiday"/>
              </a:rPr>
              <a:t>Tournament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36147" y="7572308"/>
            <a:ext cx="12137053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89"/>
              </a:lnSpc>
            </a:pPr>
            <a:r>
              <a:rPr lang="en-US" sz="2994" b="1" spc="1107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WEEK 6 PROJECT ON SECURITY AUDIT: </a:t>
            </a:r>
          </a:p>
          <a:p>
            <a:pPr algn="l">
              <a:lnSpc>
                <a:spcPts val="5389"/>
              </a:lnSpc>
            </a:pPr>
            <a:r>
              <a:rPr lang="en-US" sz="2994" b="1" spc="1107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PRESENTED BY:DANJUMA ALICE OMALI</a:t>
            </a:r>
            <a:endParaRPr lang="en-US" sz="2994" b="1" spc="1107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028700" y="1031072"/>
            <a:ext cx="799205" cy="520210"/>
          </a:xfrm>
          <a:custGeom>
            <a:avLst/>
            <a:gdLst/>
            <a:ahLst/>
            <a:cxnLst/>
            <a:rect l="l" t="t" r="r" b="b"/>
            <a:pathLst>
              <a:path w="799205" h="520210">
                <a:moveTo>
                  <a:pt x="0" y="0"/>
                </a:moveTo>
                <a:lnTo>
                  <a:pt x="799205" y="0"/>
                </a:lnTo>
                <a:lnTo>
                  <a:pt x="799205" y="520210"/>
                </a:lnTo>
                <a:lnTo>
                  <a:pt x="0" y="52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997246" y="990064"/>
            <a:ext cx="2346154" cy="654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2598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EAZY’S GAMES </a:t>
            </a:r>
            <a:endParaRPr lang="en-US" sz="2598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Freeform 34"/>
          <p:cNvSpPr/>
          <p:nvPr/>
        </p:nvSpPr>
        <p:spPr>
          <a:xfrm rot="3396704">
            <a:off x="4491027" y="-2647233"/>
            <a:ext cx="3784273" cy="4118937"/>
          </a:xfrm>
          <a:custGeom>
            <a:avLst/>
            <a:gdLst/>
            <a:ahLst/>
            <a:cxnLst/>
            <a:rect l="l" t="t" r="r" b="b"/>
            <a:pathLst>
              <a:path w="3784273" h="4118937">
                <a:moveTo>
                  <a:pt x="0" y="0"/>
                </a:moveTo>
                <a:lnTo>
                  <a:pt x="3784273" y="0"/>
                </a:lnTo>
                <a:lnTo>
                  <a:pt x="3784273" y="4118937"/>
                </a:lnTo>
                <a:lnTo>
                  <a:pt x="0" y="4118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946">
                <a:alpha val="100000"/>
              </a:srgbClr>
            </a:gs>
            <a:gs pos="100000">
              <a:srgbClr val="22053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874073">
            <a:off x="8748251" y="3812448"/>
            <a:ext cx="10410531" cy="11331190"/>
          </a:xfrm>
          <a:custGeom>
            <a:avLst/>
            <a:gdLst/>
            <a:ahLst/>
            <a:cxnLst/>
            <a:rect l="l" t="t" r="r" b="b"/>
            <a:pathLst>
              <a:path w="10410531" h="11331190">
                <a:moveTo>
                  <a:pt x="0" y="0"/>
                </a:moveTo>
                <a:lnTo>
                  <a:pt x="10410531" y="0"/>
                </a:lnTo>
                <a:lnTo>
                  <a:pt x="10410531" y="11331191"/>
                </a:lnTo>
                <a:lnTo>
                  <a:pt x="0" y="11331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0640124" y="3252334"/>
            <a:ext cx="6804476" cy="6481762"/>
            <a:chOff x="0" y="0"/>
            <a:chExt cx="1000332" cy="9597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332" cy="959737"/>
            </a:xfrm>
            <a:custGeom>
              <a:avLst/>
              <a:gdLst/>
              <a:ahLst/>
              <a:cxnLst/>
              <a:rect l="l" t="t" r="r" b="b"/>
              <a:pathLst>
                <a:path w="1000332" h="959737">
                  <a:moveTo>
                    <a:pt x="27578" y="0"/>
                  </a:moveTo>
                  <a:lnTo>
                    <a:pt x="972754" y="0"/>
                  </a:lnTo>
                  <a:cubicBezTo>
                    <a:pt x="980069" y="0"/>
                    <a:pt x="987083" y="2905"/>
                    <a:pt x="992255" y="8077"/>
                  </a:cubicBezTo>
                  <a:cubicBezTo>
                    <a:pt x="997427" y="13249"/>
                    <a:pt x="1000332" y="20264"/>
                    <a:pt x="1000332" y="27578"/>
                  </a:cubicBezTo>
                  <a:lnTo>
                    <a:pt x="1000332" y="932160"/>
                  </a:lnTo>
                  <a:cubicBezTo>
                    <a:pt x="1000332" y="939474"/>
                    <a:pt x="997427" y="946488"/>
                    <a:pt x="992255" y="951660"/>
                  </a:cubicBezTo>
                  <a:cubicBezTo>
                    <a:pt x="987083" y="956832"/>
                    <a:pt x="980069" y="959737"/>
                    <a:pt x="972754" y="959737"/>
                  </a:cubicBezTo>
                  <a:lnTo>
                    <a:pt x="27578" y="959737"/>
                  </a:lnTo>
                  <a:cubicBezTo>
                    <a:pt x="20264" y="959737"/>
                    <a:pt x="13249" y="956832"/>
                    <a:pt x="8077" y="951660"/>
                  </a:cubicBezTo>
                  <a:cubicBezTo>
                    <a:pt x="2905" y="946488"/>
                    <a:pt x="0" y="939474"/>
                    <a:pt x="0" y="932160"/>
                  </a:cubicBezTo>
                  <a:lnTo>
                    <a:pt x="0" y="27578"/>
                  </a:lnTo>
                  <a:cubicBezTo>
                    <a:pt x="0" y="20264"/>
                    <a:pt x="2905" y="13249"/>
                    <a:pt x="8077" y="8077"/>
                  </a:cubicBezTo>
                  <a:cubicBezTo>
                    <a:pt x="13249" y="2905"/>
                    <a:pt x="20264" y="0"/>
                    <a:pt x="27578" y="0"/>
                  </a:cubicBezTo>
                  <a:close/>
                </a:path>
              </a:pathLst>
            </a:custGeom>
            <a:blipFill>
              <a:blip r:embed="rId3"/>
              <a:stretch>
                <a:fillRect t="-28221" b="-28221"/>
              </a:stretch>
            </a:blipFill>
            <a:ln w="1047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8" name="Freeform 8"/>
          <p:cNvSpPr/>
          <p:nvPr/>
        </p:nvSpPr>
        <p:spPr>
          <a:xfrm rot="-7593480">
            <a:off x="16224966" y="4579177"/>
            <a:ext cx="3379341" cy="3678194"/>
          </a:xfrm>
          <a:custGeom>
            <a:avLst/>
            <a:gdLst/>
            <a:ahLst/>
            <a:cxnLst/>
            <a:rect l="l" t="t" r="r" b="b"/>
            <a:pathLst>
              <a:path w="3379341" h="3678194">
                <a:moveTo>
                  <a:pt x="0" y="0"/>
                </a:moveTo>
                <a:lnTo>
                  <a:pt x="3379341" y="0"/>
                </a:lnTo>
                <a:lnTo>
                  <a:pt x="3379341" y="3678194"/>
                </a:lnTo>
                <a:lnTo>
                  <a:pt x="0" y="3678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840809" y="3300344"/>
            <a:ext cx="341403" cy="512105"/>
            <a:chOff x="0" y="0"/>
            <a:chExt cx="406400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075823" y="3300344"/>
            <a:ext cx="341403" cy="512105"/>
            <a:chOff x="0" y="0"/>
            <a:chExt cx="4064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310340" y="3300344"/>
            <a:ext cx="341403" cy="512105"/>
            <a:chOff x="0" y="0"/>
            <a:chExt cx="406400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6971" y="9221991"/>
            <a:ext cx="341403" cy="512105"/>
            <a:chOff x="0" y="0"/>
            <a:chExt cx="406400" cy="6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51985" y="9221991"/>
            <a:ext cx="341403" cy="512105"/>
            <a:chOff x="0" y="0"/>
            <a:chExt cx="406400" cy="60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86502" y="9221991"/>
            <a:ext cx="341403" cy="512105"/>
            <a:chOff x="0" y="0"/>
            <a:chExt cx="406400" cy="609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997246" y="3280199"/>
            <a:ext cx="7814549" cy="1121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21"/>
              </a:lnSpc>
              <a:spcBef>
                <a:spcPct val="0"/>
              </a:spcBef>
            </a:pPr>
            <a:r>
              <a:rPr lang="en-US" sz="10660" b="1" spc="-106" dirty="0" smtClean="0">
                <a:solidFill>
                  <a:srgbClr val="4B55DC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EXECUTIVE SUMARY</a:t>
            </a:r>
            <a:endParaRPr lang="en-US" sz="10660" b="1" spc="-106" dirty="0">
              <a:solidFill>
                <a:srgbClr val="4B55DC"/>
              </a:solidFill>
              <a:latin typeface="Zuume Rough Bold"/>
              <a:ea typeface="Zuume Rough Bold"/>
              <a:cs typeface="Zuume Rough Bold"/>
              <a:sym typeface="Zuume Rough Bold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1028700" y="1031072"/>
            <a:ext cx="799205" cy="520210"/>
          </a:xfrm>
          <a:custGeom>
            <a:avLst/>
            <a:gdLst/>
            <a:ahLst/>
            <a:cxnLst/>
            <a:rect l="l" t="t" r="r" b="b"/>
            <a:pathLst>
              <a:path w="799205" h="520210">
                <a:moveTo>
                  <a:pt x="0" y="0"/>
                </a:moveTo>
                <a:lnTo>
                  <a:pt x="799205" y="0"/>
                </a:lnTo>
                <a:lnTo>
                  <a:pt x="799205" y="520210"/>
                </a:lnTo>
                <a:lnTo>
                  <a:pt x="0" y="520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997246" y="990064"/>
            <a:ext cx="1736695" cy="65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2598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EAZY’S  GAMES</a:t>
            </a:r>
            <a:endParaRPr lang="en-US" sz="2598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20796" y="4359998"/>
            <a:ext cx="9144000" cy="46679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report documents a comprehensive hands-on security audit conducted for a small local gaming shop. The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facility offers console gaming services, console sales and repairs, game installations, and gaming </a:t>
            </a: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account</a:t>
            </a:r>
          </a:p>
          <a:p>
            <a:pPr>
              <a:spcAft>
                <a:spcPts val="800"/>
              </a:spcAft>
            </a:pP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management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The audit encompasses discovery, stakeholder interviews, pre- and post-assessment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security checks.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scoring, risk analysis via a Likelihood-Impact matrix, policy and technical solution development, and compliance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mapping against the NIST Cybersecurity Framework (CSF 2.0) and the Nigeria Data Protection Regulation</a:t>
            </a:r>
          </a:p>
          <a:p>
            <a:pPr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(NDPR).</a:t>
            </a:r>
            <a:endParaRPr lang="en-US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946">
                <a:alpha val="100000"/>
              </a:srgbClr>
            </a:gs>
            <a:gs pos="100000">
              <a:srgbClr val="22053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331362" y="1021782"/>
            <a:ext cx="6018252" cy="618133"/>
            <a:chOff x="0" y="0"/>
            <a:chExt cx="1585054" cy="1628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5054" cy="162801"/>
            </a:xfrm>
            <a:custGeom>
              <a:avLst/>
              <a:gdLst/>
              <a:ahLst/>
              <a:cxnLst/>
              <a:rect l="l" t="t" r="r" b="b"/>
              <a:pathLst>
                <a:path w="1585054" h="162801">
                  <a:moveTo>
                    <a:pt x="81400" y="0"/>
                  </a:moveTo>
                  <a:lnTo>
                    <a:pt x="1503654" y="0"/>
                  </a:lnTo>
                  <a:cubicBezTo>
                    <a:pt x="1548610" y="0"/>
                    <a:pt x="1585054" y="36444"/>
                    <a:pt x="1585054" y="81400"/>
                  </a:cubicBezTo>
                  <a:lnTo>
                    <a:pt x="1585054" y="81400"/>
                  </a:lnTo>
                  <a:cubicBezTo>
                    <a:pt x="1585054" y="102989"/>
                    <a:pt x="1576478" y="123693"/>
                    <a:pt x="1561213" y="138959"/>
                  </a:cubicBezTo>
                  <a:cubicBezTo>
                    <a:pt x="1545947" y="154224"/>
                    <a:pt x="1525243" y="162801"/>
                    <a:pt x="1503654" y="162801"/>
                  </a:cubicBezTo>
                  <a:lnTo>
                    <a:pt x="81400" y="162801"/>
                  </a:lnTo>
                  <a:cubicBezTo>
                    <a:pt x="59812" y="162801"/>
                    <a:pt x="39107" y="154224"/>
                    <a:pt x="23842" y="138959"/>
                  </a:cubicBezTo>
                  <a:cubicBezTo>
                    <a:pt x="8576" y="123693"/>
                    <a:pt x="0" y="102989"/>
                    <a:pt x="0" y="81400"/>
                  </a:cubicBezTo>
                  <a:lnTo>
                    <a:pt x="0" y="81400"/>
                  </a:lnTo>
                  <a:cubicBezTo>
                    <a:pt x="0" y="59812"/>
                    <a:pt x="8576" y="39107"/>
                    <a:pt x="23842" y="23842"/>
                  </a:cubicBezTo>
                  <a:cubicBezTo>
                    <a:pt x="39107" y="8576"/>
                    <a:pt x="59812" y="0"/>
                    <a:pt x="81400" y="0"/>
                  </a:cubicBezTo>
                  <a:close/>
                </a:path>
              </a:pathLst>
            </a:custGeom>
            <a:ln w="38100" cap="rnd">
              <a:solidFill>
                <a:srgbClr val="4B55DC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585054" cy="219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911361">
            <a:off x="15151964" y="8510760"/>
            <a:ext cx="4214672" cy="4587398"/>
          </a:xfrm>
          <a:custGeom>
            <a:avLst/>
            <a:gdLst/>
            <a:ahLst/>
            <a:cxnLst/>
            <a:rect l="l" t="t" r="r" b="b"/>
            <a:pathLst>
              <a:path w="4214672" h="4587398">
                <a:moveTo>
                  <a:pt x="0" y="0"/>
                </a:moveTo>
                <a:lnTo>
                  <a:pt x="4214672" y="0"/>
                </a:lnTo>
                <a:lnTo>
                  <a:pt x="4214672" y="4587398"/>
                </a:lnTo>
                <a:lnTo>
                  <a:pt x="0" y="458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44148" y="2246754"/>
            <a:ext cx="341403" cy="512105"/>
            <a:chOff x="0" y="0"/>
            <a:chExt cx="4064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79161" y="2246754"/>
            <a:ext cx="341403" cy="512105"/>
            <a:chOff x="0" y="0"/>
            <a:chExt cx="40640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413678" y="2246754"/>
            <a:ext cx="341403" cy="512105"/>
            <a:chOff x="0" y="0"/>
            <a:chExt cx="40640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1031072"/>
            <a:ext cx="799205" cy="520210"/>
          </a:xfrm>
          <a:custGeom>
            <a:avLst/>
            <a:gdLst/>
            <a:ahLst/>
            <a:cxnLst/>
            <a:rect l="l" t="t" r="r" b="b"/>
            <a:pathLst>
              <a:path w="799205" h="520210">
                <a:moveTo>
                  <a:pt x="0" y="0"/>
                </a:moveTo>
                <a:lnTo>
                  <a:pt x="799205" y="0"/>
                </a:lnTo>
                <a:lnTo>
                  <a:pt x="799205" y="520210"/>
                </a:lnTo>
                <a:lnTo>
                  <a:pt x="0" y="52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2386767" y="1640302"/>
            <a:ext cx="4214672" cy="4587398"/>
          </a:xfrm>
          <a:custGeom>
            <a:avLst/>
            <a:gdLst/>
            <a:ahLst/>
            <a:cxnLst/>
            <a:rect l="l" t="t" r="r" b="b"/>
            <a:pathLst>
              <a:path w="4214672" h="4587398">
                <a:moveTo>
                  <a:pt x="0" y="0"/>
                </a:moveTo>
                <a:lnTo>
                  <a:pt x="4214672" y="0"/>
                </a:lnTo>
                <a:lnTo>
                  <a:pt x="4214672" y="4587398"/>
                </a:lnTo>
                <a:lnTo>
                  <a:pt x="0" y="458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505200" y="2806387"/>
            <a:ext cx="12312861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21"/>
              </a:lnSpc>
              <a:spcBef>
                <a:spcPct val="0"/>
              </a:spcBef>
            </a:pPr>
            <a:r>
              <a:rPr lang="en-US" sz="10660" b="1" spc="-106" dirty="0" smtClean="0">
                <a:solidFill>
                  <a:srgbClr val="4B55DC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Pre-assessment scoring sheet  </a:t>
            </a:r>
            <a:endParaRPr lang="en-US" sz="10660" b="1" spc="-106" dirty="0">
              <a:solidFill>
                <a:srgbClr val="4B55DC"/>
              </a:solidFill>
              <a:latin typeface="Zuume Rough Bold"/>
              <a:ea typeface="Zuume Rough Bold"/>
              <a:cs typeface="Zuume Rough Bold"/>
              <a:sym typeface="Zuume Rough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97246" y="990064"/>
            <a:ext cx="1736695" cy="65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2598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EAZY’S GAMES</a:t>
            </a:r>
            <a:endParaRPr lang="en-US" sz="2598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12498"/>
              </p:ext>
            </p:extLst>
          </p:nvPr>
        </p:nvGraphicFramePr>
        <p:xfrm>
          <a:off x="3003657" y="4115334"/>
          <a:ext cx="12877799" cy="5267614"/>
        </p:xfrm>
        <a:graphic>
          <a:graphicData uri="http://schemas.openxmlformats.org/drawingml/2006/table">
            <a:tbl>
              <a:tblPr/>
              <a:tblGrid>
                <a:gridCol w="2415287">
                  <a:extLst>
                    <a:ext uri="{9D8B030D-6E8A-4147-A177-3AD203B41FA5}">
                      <a16:colId xmlns:a16="http://schemas.microsoft.com/office/drawing/2014/main" val="2886153097"/>
                    </a:ext>
                  </a:extLst>
                </a:gridCol>
                <a:gridCol w="3539017">
                  <a:extLst>
                    <a:ext uri="{9D8B030D-6E8A-4147-A177-3AD203B41FA5}">
                      <a16:colId xmlns:a16="http://schemas.microsoft.com/office/drawing/2014/main" val="2228874503"/>
                    </a:ext>
                  </a:extLst>
                </a:gridCol>
                <a:gridCol w="1076354">
                  <a:extLst>
                    <a:ext uri="{9D8B030D-6E8A-4147-A177-3AD203B41FA5}">
                      <a16:colId xmlns:a16="http://schemas.microsoft.com/office/drawing/2014/main" val="2014170673"/>
                    </a:ext>
                  </a:extLst>
                </a:gridCol>
                <a:gridCol w="5847141">
                  <a:extLst>
                    <a:ext uri="{9D8B030D-6E8A-4147-A177-3AD203B41FA5}">
                      <a16:colId xmlns:a16="http://schemas.microsoft.com/office/drawing/2014/main" val="2227664915"/>
                    </a:ext>
                  </a:extLst>
                </a:gridCol>
              </a:tblGrid>
              <a:tr h="717069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Domain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Audit Check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Walkthrough Notes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101968"/>
                  </a:ext>
                </a:extLst>
              </a:tr>
              <a:tr h="717069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 &amp; Asset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Consoles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/PC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secured against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theft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</a:t>
                      </a:r>
                      <a:r>
                        <a:rPr lang="en-US" sz="2000" b="0" i="0" u="none" baseline="0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tempering.</a:t>
                      </a:r>
                      <a:endParaRPr sz="2000" b="0" i="0" u="none" dirty="0">
                        <a:solidFill>
                          <a:srgbClr val="47556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u="none">
                          <a:solidFill>
                            <a:srgbClr val="DC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PS2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locked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</a:t>
                      </a:r>
                      <a:r>
                        <a:rPr lang="en-US" sz="2000" b="0" i="0" u="none" baseline="0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cabinet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  <a:r>
                        <a:rPr lang="en-US" sz="2000" b="0" i="0" u="none" baseline="0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consoles/TV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rely on staff monitoring.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26838"/>
                  </a:ext>
                </a:extLst>
              </a:tr>
              <a:tr h="717069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Endpoint Controls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Guest accounts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restricted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, users blocked from unauthorized software</a:t>
                      </a:r>
                      <a:endParaRPr sz="2000" b="0" i="0" u="none" dirty="0">
                        <a:solidFill>
                          <a:srgbClr val="47556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u="none">
                          <a:solidFill>
                            <a:srgbClr val="16A34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4/5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system controls 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settings that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 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downloading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unauthorized 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r>
                        <a:rPr lang="en-US" sz="2000" b="0" i="0" u="none" baseline="0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browsing freely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sz="2000" b="0" i="0" u="none" dirty="0">
                        <a:solidFill>
                          <a:srgbClr val="47556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071113"/>
                  </a:ext>
                </a:extLst>
              </a:tr>
              <a:tr h="717069"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&amp; Wi-Fi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Router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protection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customer network isolation.</a:t>
                      </a:r>
                      <a:endParaRPr sz="2000" b="0" i="0" u="none" dirty="0">
                        <a:solidFill>
                          <a:srgbClr val="47556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u="none" dirty="0">
                          <a:solidFill>
                            <a:srgbClr val="16A34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4/5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public Wi-Fi; router password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restricted</a:t>
                      </a:r>
                      <a:r>
                        <a:rPr lang="en-US" sz="2000" b="0" i="0" u="none" baseline="0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administrative alone.</a:t>
                      </a:r>
                      <a:endParaRPr sz="2000" b="0" i="0" u="none" dirty="0">
                        <a:solidFill>
                          <a:srgbClr val="47556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2934"/>
                  </a:ext>
                </a:extLst>
              </a:tr>
              <a:tr h="717069"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Privacy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Consent &amp; transparency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u="none" dirty="0">
                          <a:solidFill>
                            <a:srgbClr val="DC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2/5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Collected via online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Spreadsheets 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tournament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without privacy notices.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923440"/>
                  </a:ext>
                </a:extLst>
              </a:tr>
              <a:tr h="717069">
                <a:tc>
                  <a:txBody>
                    <a:bodyPr/>
                    <a:lstStyle/>
                    <a:p>
                      <a:pPr algn="l"/>
                      <a:r>
                        <a:rPr sz="2000" b="1" i="0" u="none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Backup &amp; Recovery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business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record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  and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backups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u="none" dirty="0">
                          <a:solidFill>
                            <a:srgbClr val="DC262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backups 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kept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because management believes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update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eliminate the</a:t>
                      </a:r>
                      <a:r>
                        <a:rPr lang="en-US" sz="2000" b="0" i="0" u="none" baseline="0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need for backups</a:t>
                      </a:r>
                      <a:r>
                        <a:rPr sz="2000" b="0" i="0" u="none" dirty="0" smtClean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sz="2000" b="0" i="0" u="none" dirty="0">
                        <a:solidFill>
                          <a:srgbClr val="47556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878012"/>
                  </a:ext>
                </a:extLst>
              </a:tr>
              <a:tr h="717069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 err="1" smtClean="0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Patch</a:t>
                      </a:r>
                      <a:r>
                        <a:rPr lang="en-US" sz="2000" b="1" i="0" u="none" dirty="0" err="1" smtClean="0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&amp;update</a:t>
                      </a:r>
                      <a:r>
                        <a:rPr sz="2000" b="1" i="0" u="none" dirty="0" smtClean="0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000" b="1" i="0" u="none" dirty="0">
                          <a:solidFill>
                            <a:srgbClr val="0F17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Regular OS &amp; game updates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 u="none" dirty="0">
                          <a:solidFill>
                            <a:srgbClr val="D9770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3/5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 u="none" dirty="0">
                          <a:solidFill>
                            <a:srgbClr val="47556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 end-of-day checks and online patching.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110555"/>
                  </a:ext>
                </a:extLst>
              </a:tr>
            </a:tbl>
          </a:graphicData>
        </a:graphic>
      </p:graphicFrame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098" y="8877300"/>
            <a:ext cx="2078916" cy="16033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946">
                <a:alpha val="100000"/>
              </a:srgbClr>
            </a:gs>
            <a:gs pos="100000">
              <a:srgbClr val="22053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-1911361">
            <a:off x="15151964" y="8510760"/>
            <a:ext cx="4214672" cy="4587398"/>
          </a:xfrm>
          <a:custGeom>
            <a:avLst/>
            <a:gdLst/>
            <a:ahLst/>
            <a:cxnLst/>
            <a:rect l="l" t="t" r="r" b="b"/>
            <a:pathLst>
              <a:path w="4214672" h="4587398">
                <a:moveTo>
                  <a:pt x="0" y="0"/>
                </a:moveTo>
                <a:lnTo>
                  <a:pt x="4214672" y="0"/>
                </a:lnTo>
                <a:lnTo>
                  <a:pt x="4214672" y="4587398"/>
                </a:lnTo>
                <a:lnTo>
                  <a:pt x="0" y="458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44148" y="2246754"/>
            <a:ext cx="341403" cy="512105"/>
            <a:chOff x="0" y="0"/>
            <a:chExt cx="4064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79161" y="2246754"/>
            <a:ext cx="341403" cy="512105"/>
            <a:chOff x="0" y="0"/>
            <a:chExt cx="40640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413678" y="2246754"/>
            <a:ext cx="341403" cy="512105"/>
            <a:chOff x="0" y="0"/>
            <a:chExt cx="40640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1031072"/>
            <a:ext cx="799205" cy="520210"/>
          </a:xfrm>
          <a:custGeom>
            <a:avLst/>
            <a:gdLst/>
            <a:ahLst/>
            <a:cxnLst/>
            <a:rect l="l" t="t" r="r" b="b"/>
            <a:pathLst>
              <a:path w="799205" h="520210">
                <a:moveTo>
                  <a:pt x="0" y="0"/>
                </a:moveTo>
                <a:lnTo>
                  <a:pt x="799205" y="0"/>
                </a:lnTo>
                <a:lnTo>
                  <a:pt x="799205" y="520210"/>
                </a:lnTo>
                <a:lnTo>
                  <a:pt x="0" y="52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2386767" y="1640302"/>
            <a:ext cx="4214672" cy="4587398"/>
          </a:xfrm>
          <a:custGeom>
            <a:avLst/>
            <a:gdLst/>
            <a:ahLst/>
            <a:cxnLst/>
            <a:rect l="l" t="t" r="r" b="b"/>
            <a:pathLst>
              <a:path w="4214672" h="4587398">
                <a:moveTo>
                  <a:pt x="0" y="0"/>
                </a:moveTo>
                <a:lnTo>
                  <a:pt x="4214672" y="0"/>
                </a:lnTo>
                <a:lnTo>
                  <a:pt x="4214672" y="4587398"/>
                </a:lnTo>
                <a:lnTo>
                  <a:pt x="0" y="458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186921" y="1125678"/>
            <a:ext cx="12312861" cy="1121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21"/>
              </a:lnSpc>
              <a:spcBef>
                <a:spcPct val="0"/>
              </a:spcBef>
            </a:pPr>
            <a:r>
              <a:rPr lang="en-US" sz="10660" b="1" spc="-106" dirty="0" smtClean="0">
                <a:solidFill>
                  <a:srgbClr val="4B55DC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RISK-ASSESSMENT MATRIX  </a:t>
            </a:r>
            <a:endParaRPr lang="en-US" sz="10660" b="1" spc="-106" dirty="0">
              <a:solidFill>
                <a:srgbClr val="4B55DC"/>
              </a:solidFill>
              <a:latin typeface="Zuume Rough Bold"/>
              <a:ea typeface="Zuume Rough Bold"/>
              <a:cs typeface="Zuume Rough Bold"/>
              <a:sym typeface="Zuume Rough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97246" y="990064"/>
            <a:ext cx="1736695" cy="65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2598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EAZY’S GAMES</a:t>
            </a:r>
            <a:endParaRPr lang="en-US" sz="2598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50286" y="4403663"/>
            <a:ext cx="24361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7246" y="5006007"/>
            <a:ext cx="38475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Lack of Backups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98064" y="4403663"/>
            <a:ext cx="24361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98064" y="4958834"/>
            <a:ext cx="4416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Non-Compliant Data Collection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0" y="4403663"/>
            <a:ext cx="22541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 RISK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649977" y="5015594"/>
            <a:ext cx="369689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Unrestricted USB Ports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32517" y="5510951"/>
            <a:ext cx="494398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 to maintain data </a:t>
            </a:r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restoration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capabilities for business records.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132517" y="6540277"/>
            <a:ext cx="5145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NIST Framework: Recover / RCRP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47334" y="5502758"/>
            <a:ext cx="304800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lawful processing consent notices and data security.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9313" y="7003884"/>
            <a:ext cx="178734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Framework: NDPR Violation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622268" y="7001942"/>
            <a:ext cx="42290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NIST Framework: Protect / PR.PS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2727985" y="5410425"/>
            <a:ext cx="462902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physical and port integrity </a:t>
            </a:r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controls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endpoints.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81756" y="2333251"/>
            <a:ext cx="9144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marR="0"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the Likelihood vs. Impact formula (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Risk = Likelihood × Impact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scored on a 1–3 scale), the gaps discovered in </a:t>
            </a:r>
            <a:b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pre-assessment are evaluated below:</a:t>
            </a:r>
            <a:endParaRPr lang="en-US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1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946">
                <a:alpha val="100000"/>
              </a:srgbClr>
            </a:gs>
            <a:gs pos="100000">
              <a:srgbClr val="22053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rot="-1911361">
            <a:off x="15151964" y="8510760"/>
            <a:ext cx="4214672" cy="4587398"/>
          </a:xfrm>
          <a:custGeom>
            <a:avLst/>
            <a:gdLst/>
            <a:ahLst/>
            <a:cxnLst/>
            <a:rect l="l" t="t" r="r" b="b"/>
            <a:pathLst>
              <a:path w="4214672" h="4587398">
                <a:moveTo>
                  <a:pt x="0" y="0"/>
                </a:moveTo>
                <a:lnTo>
                  <a:pt x="4214672" y="0"/>
                </a:lnTo>
                <a:lnTo>
                  <a:pt x="4214672" y="4587398"/>
                </a:lnTo>
                <a:lnTo>
                  <a:pt x="0" y="4587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44148" y="2246754"/>
            <a:ext cx="341403" cy="512105"/>
            <a:chOff x="0" y="0"/>
            <a:chExt cx="4064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179161" y="2246754"/>
            <a:ext cx="341403" cy="512105"/>
            <a:chOff x="0" y="0"/>
            <a:chExt cx="40640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413678" y="2246754"/>
            <a:ext cx="341403" cy="512105"/>
            <a:chOff x="0" y="0"/>
            <a:chExt cx="40640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1031072"/>
            <a:ext cx="799205" cy="520210"/>
          </a:xfrm>
          <a:custGeom>
            <a:avLst/>
            <a:gdLst/>
            <a:ahLst/>
            <a:cxnLst/>
            <a:rect l="l" t="t" r="r" b="b"/>
            <a:pathLst>
              <a:path w="799205" h="520210">
                <a:moveTo>
                  <a:pt x="0" y="0"/>
                </a:moveTo>
                <a:lnTo>
                  <a:pt x="799205" y="0"/>
                </a:lnTo>
                <a:lnTo>
                  <a:pt x="799205" y="520210"/>
                </a:lnTo>
                <a:lnTo>
                  <a:pt x="0" y="520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2386767" y="1640302"/>
            <a:ext cx="4214672" cy="4587398"/>
          </a:xfrm>
          <a:custGeom>
            <a:avLst/>
            <a:gdLst/>
            <a:ahLst/>
            <a:cxnLst/>
            <a:rect l="l" t="t" r="r" b="b"/>
            <a:pathLst>
              <a:path w="4214672" h="4587398">
                <a:moveTo>
                  <a:pt x="0" y="0"/>
                </a:moveTo>
                <a:lnTo>
                  <a:pt x="4214672" y="0"/>
                </a:lnTo>
                <a:lnTo>
                  <a:pt x="4214672" y="4587398"/>
                </a:lnTo>
                <a:lnTo>
                  <a:pt x="0" y="4587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186921" y="1125678"/>
            <a:ext cx="12312861" cy="2198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421"/>
              </a:lnSpc>
              <a:spcBef>
                <a:spcPct val="0"/>
              </a:spcBef>
            </a:pPr>
            <a:r>
              <a:rPr lang="en-US" sz="10660" b="1" spc="-106" dirty="0" smtClean="0">
                <a:solidFill>
                  <a:srgbClr val="4B55DC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  TECHNICAL CONTROLS AND POLICY UPGRADE</a:t>
            </a:r>
            <a:endParaRPr lang="en-US" sz="10660" b="1" spc="-106" dirty="0">
              <a:solidFill>
                <a:srgbClr val="4B55DC"/>
              </a:solidFill>
              <a:latin typeface="Zuume Rough Bold"/>
              <a:ea typeface="Zuume Rough Bold"/>
              <a:cs typeface="Zuume Rough Bold"/>
              <a:sym typeface="Zuume Rough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97246" y="990064"/>
            <a:ext cx="1736695" cy="65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2598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EAZY’S GAMES</a:t>
            </a:r>
            <a:endParaRPr lang="en-US" sz="2598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50286" y="4403663"/>
            <a:ext cx="37325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BACKUPS</a:t>
            </a:r>
            <a:endParaRPr lang="en-US" sz="2400" b="1" dirty="0">
              <a:solidFill>
                <a:srgbClr val="DC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598064" y="4403663"/>
            <a:ext cx="48029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NDPR CONSENT FRAMEWORK</a:t>
            </a:r>
            <a:endParaRPr lang="en-US" sz="2400" b="1" dirty="0">
              <a:solidFill>
                <a:srgbClr val="DC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801600" y="4403663"/>
            <a:ext cx="4281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PORT CONTROL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7905" y="4901408"/>
            <a:ext cx="442049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Enforce weekly automated cloud backups </a:t>
            </a: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 the 3-2-1 backup rule for all </a:t>
            </a: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tournament logs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That’s  3 copies of data, on 2 different media type with one copy stored securely in the cloud.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26601" y="4927818"/>
            <a:ext cx="9144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privacy notices, mandatory consent checkboxes, </a:t>
            </a: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30-day data deletion policy 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tournament </a:t>
            </a: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entries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13871" y="4927818"/>
            <a:ext cx="304800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 dedicated wall-plug charging docks and physical port blockers to </a:t>
            </a:r>
            <a:r>
              <a:rPr sz="2000" b="0" i="0" u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 unauthorized data access.</a:t>
            </a:r>
          </a:p>
        </p:txBody>
      </p:sp>
    </p:spTree>
    <p:extLst>
      <p:ext uri="{BB962C8B-B14F-4D97-AF65-F5344CB8AC3E}">
        <p14:creationId xmlns:p14="http://schemas.microsoft.com/office/powerpoint/2010/main" val="307491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946">
                <a:alpha val="100000"/>
              </a:srgbClr>
            </a:gs>
            <a:gs pos="100000">
              <a:srgbClr val="22053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62189" y="3064359"/>
            <a:ext cx="10387425" cy="302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55"/>
              </a:lnSpc>
              <a:spcBef>
                <a:spcPct val="0"/>
              </a:spcBef>
            </a:pPr>
            <a:r>
              <a:rPr lang="en-US" sz="24500" b="1" spc="-245">
                <a:solidFill>
                  <a:srgbClr val="4B55DC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2310257" y="-3022322"/>
            <a:ext cx="6044198" cy="6578718"/>
          </a:xfrm>
          <a:custGeom>
            <a:avLst/>
            <a:gdLst/>
            <a:ahLst/>
            <a:cxnLst/>
            <a:rect l="l" t="t" r="r" b="b"/>
            <a:pathLst>
              <a:path w="6044198" h="6578718">
                <a:moveTo>
                  <a:pt x="0" y="0"/>
                </a:moveTo>
                <a:lnTo>
                  <a:pt x="6044198" y="0"/>
                </a:lnTo>
                <a:lnTo>
                  <a:pt x="6044198" y="6578718"/>
                </a:lnTo>
                <a:lnTo>
                  <a:pt x="0" y="657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6538681" y="3110966"/>
            <a:ext cx="341403" cy="512105"/>
            <a:chOff x="0" y="0"/>
            <a:chExt cx="4064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773695" y="3110966"/>
            <a:ext cx="341403" cy="512105"/>
            <a:chOff x="0" y="0"/>
            <a:chExt cx="4064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008211" y="3110966"/>
            <a:ext cx="341403" cy="512105"/>
            <a:chOff x="0" y="0"/>
            <a:chExt cx="40640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6971" y="9002248"/>
            <a:ext cx="341403" cy="512105"/>
            <a:chOff x="0" y="0"/>
            <a:chExt cx="406400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1985" y="9002248"/>
            <a:ext cx="341403" cy="512105"/>
            <a:chOff x="0" y="0"/>
            <a:chExt cx="406400" cy="609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86502" y="9002248"/>
            <a:ext cx="341403" cy="512105"/>
            <a:chOff x="0" y="0"/>
            <a:chExt cx="406400" cy="609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ln w="28575" cap="sq">
              <a:solidFill>
                <a:srgbClr val="4B55DC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1600" y="-57150"/>
              <a:ext cx="203200" cy="666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6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3396704">
            <a:off x="13857985" y="8141754"/>
            <a:ext cx="6044198" cy="6578718"/>
          </a:xfrm>
          <a:custGeom>
            <a:avLst/>
            <a:gdLst/>
            <a:ahLst/>
            <a:cxnLst/>
            <a:rect l="l" t="t" r="r" b="b"/>
            <a:pathLst>
              <a:path w="6044198" h="6578718">
                <a:moveTo>
                  <a:pt x="0" y="0"/>
                </a:moveTo>
                <a:lnTo>
                  <a:pt x="6044198" y="0"/>
                </a:lnTo>
                <a:lnTo>
                  <a:pt x="6044198" y="6578718"/>
                </a:lnTo>
                <a:lnTo>
                  <a:pt x="0" y="657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001089" y="4629819"/>
            <a:ext cx="6594958" cy="17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85"/>
              </a:lnSpc>
            </a:pPr>
            <a:r>
              <a:rPr lang="en-US" sz="12910" spc="-129">
                <a:solidFill>
                  <a:srgbClr val="4B55DC"/>
                </a:solidFill>
                <a:latin typeface="Holiday"/>
                <a:ea typeface="Holiday"/>
                <a:cs typeface="Holiday"/>
                <a:sym typeface="Holiday"/>
              </a:rPr>
              <a:t>For Attention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01089" y="6155655"/>
            <a:ext cx="7702838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9"/>
              </a:lnSpc>
            </a:pPr>
            <a:r>
              <a:rPr lang="en-US" sz="2994" b="1" spc="1107" dirty="0" smtClean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QUESTIONS &amp; ANSWERS</a:t>
            </a:r>
            <a:endParaRPr lang="en-US" sz="2994" b="1" spc="1107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028700" y="1031072"/>
            <a:ext cx="799205" cy="520210"/>
          </a:xfrm>
          <a:custGeom>
            <a:avLst/>
            <a:gdLst/>
            <a:ahLst/>
            <a:cxnLst/>
            <a:rect l="l" t="t" r="r" b="b"/>
            <a:pathLst>
              <a:path w="799205" h="520210">
                <a:moveTo>
                  <a:pt x="0" y="0"/>
                </a:moveTo>
                <a:lnTo>
                  <a:pt x="799205" y="0"/>
                </a:lnTo>
                <a:lnTo>
                  <a:pt x="799205" y="520210"/>
                </a:lnTo>
                <a:lnTo>
                  <a:pt x="0" y="520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997246" y="990064"/>
            <a:ext cx="1736695" cy="65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2598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EAZY’S GAMES</a:t>
            </a:r>
            <a:endParaRPr lang="en-US" sz="2598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Freeform 34"/>
          <p:cNvSpPr/>
          <p:nvPr/>
        </p:nvSpPr>
        <p:spPr>
          <a:xfrm rot="-4701219">
            <a:off x="-156505" y="2031916"/>
            <a:ext cx="6044198" cy="6578718"/>
          </a:xfrm>
          <a:custGeom>
            <a:avLst/>
            <a:gdLst/>
            <a:ahLst/>
            <a:cxnLst/>
            <a:rect l="l" t="t" r="r" b="b"/>
            <a:pathLst>
              <a:path w="6044198" h="6578718">
                <a:moveTo>
                  <a:pt x="0" y="0"/>
                </a:moveTo>
                <a:lnTo>
                  <a:pt x="6044197" y="0"/>
                </a:lnTo>
                <a:lnTo>
                  <a:pt x="6044197" y="6578718"/>
                </a:lnTo>
                <a:lnTo>
                  <a:pt x="0" y="657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440</Words>
  <Application>Microsoft Office PowerPoint</Application>
  <PresentationFormat>Custom</PresentationFormat>
  <Paragraphs>80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Poppins Bold</vt:lpstr>
      <vt:lpstr>Holiday</vt:lpstr>
      <vt:lpstr>Calibri</vt:lpstr>
      <vt:lpstr>Zuume Rough Bold</vt:lpstr>
      <vt:lpstr>Arial</vt:lpstr>
      <vt:lpstr>Poppins Semi-Bold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Alice PC</dc:creator>
  <cp:lastModifiedBy>Alice PC</cp:lastModifiedBy>
  <cp:revision>27</cp:revision>
  <dcterms:created xsi:type="dcterms:W3CDTF">2006-08-16T00:00:00Z</dcterms:created>
  <dcterms:modified xsi:type="dcterms:W3CDTF">2026-10-15T21:45:51Z</dcterms:modified>
  <dc:identifier>DAHX-e4PEBs</dc:identifier>
</cp:coreProperties>
</file>